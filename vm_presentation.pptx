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w+Nswkx5hBsphjvSzz3ytG43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AC1035-9658-4C3C-93D4-66B3071C4914}">
  <a:tblStyle styleId="{EFAC1035-9658-4C3C-93D4-66B3071C49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공정 센서만으로 식각 깊이를 예측하고, 그 모델을 실제 임베디드 보드에 올려 한계를 측정한 프로젝트입니다.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웨이퍼를 실제로 재보려면 계측 장비로 옮겨야 합니다. 그래서 보통 표본만 재는데, 그 사이 이상이 생기면 이미 여러 장이 망가진 뒤입니다. 가상계측은 장비가 이미 뿜는 센서 신호로 그 값을 예측합니다.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BOSCH 식각 공정 데이터셋입니다. OES 3,648 채널, 공정 파라미터 31개, 웨이퍼당 89 지점 계측. 10 lot × 10 웨이퍼 = 약 100장.</a:t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클리닝 없이 웨이퍼 10장을 연속 처리하면 식각 깊이가 단조 감소합니다. 10개 lot 전부에서요. 부호검정만으로도 p=0.001입니다.</a:t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반사파워가 오르고 pk-pk 전압이 떨어집니다. 챔버 벽에 폴리머가 쌓여 임피던스가 변한 것으로 보입니다. 핵심은 오른쪽입니다 — 압력은 88장 전체 표준편차가 정확히 0입니다. 설정은 그대로인데 실제 결합 효율만 나빠진 겁니다.</a:t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같은 데이터셋에 두 가지 질문을 던질 수 있습니다. A는 최대한 정확하게, B는 최대한 빠르고 실제로 돌아가게. 이 발표는 B를 다루되 A의 결과를 참조합니다.</a:t>
            </a:r>
            <a:endParaRPr/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트랙의 최종 파이프라인입니다. 사이클 단위로 OES와 공정 신호를 2D-CNN으로 인코딩하고, Bi-LSTM으로 사이클 간 변화를 학습한 뒤, FiLM으로 89개 지점별 예측을 만듭니다.</a:t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트랙의 EDA에서 중요한 게 나왔습니다. 식각 깊이 분산의 99%는 웨이퍼 안 위치 차이고, 웨이퍼 간 차이는 1%뿐입니다. 그런데 드리프트는 그 1% 안에 있습니다. 그래서 B 트랙은 웨이퍼 평균을 타깃으로 잡았습니다.</a:t>
            </a:r>
            <a:endParaRPr/>
          </a:p>
        </p:txBody>
      </p:sp>
      <p:sp>
        <p:nvSpPr>
          <p:cNvPr id="93" name="Google Shape;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65개 조합을 전수 측정했습니다. MLP는 전 조건에서 파국적으로 실패합니다. 최악이 마이너스 35만입니다. 이건 타협이 아니라 표본 크기에 맞는 모델을 고른 겁니다.</a:t>
            </a:r>
            <a:endParaRPr/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판정은 세 갈래입니다. 확신 있게 규격 안이면 계측 생략, 밖이면 조기 중단, 애매하면 사람에게. 불확실성 없이 점추정만 쓰면 4장을 놓칩니다. 다만 미검출 0건은 0퍼센트가 아니라 95% 상한 5.4%입니다.</a:t>
            </a:r>
            <a:endParaRPr/>
          </a:p>
        </p:txBody>
      </p:sp>
      <p:sp>
        <p:nvSpPr>
          <p:cNvPr id="135" name="Google Shape;1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float32 파괴적 상쇄를 피하려고 표준화 형태로 이식했습니다. 원시입력 형태로 하면 오차가 0.0486 µm, RMSE의 3분의 1이 납니다.</a:t>
            </a:r>
            <a:endParaRPr/>
          </a:p>
        </p:txBody>
      </p:sp>
      <p:sp>
        <p:nvSpPr>
          <p:cNvPr id="150" name="Google Shape;1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두 실험이 독립적으로 물리 코어 4개를 가리킵니다. 그리고 데이터 위치만 바꿨더니 50배가 빨라졌는데 샘플당 처리 시간은 101에서 102 나노초로 그대로였습니다. 병목이 I/O였다는 뜻입니다.</a:t>
            </a:r>
            <a:endParaRPr/>
          </a:p>
        </p:txBody>
      </p:sp>
      <p:sp>
        <p:nvSpPr>
          <p:cNvPr id="176" name="Google Shape;1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최초 가설이 무너졌습니다. CF2는 신호가 없었고 F는 특별하지 않았습니다. 전역 감쇠로 바꿨더니 lot 6에서 재현이 안 됐고요. 창 오염 가능성도 파장 의존성이 반대라 기각했습니다. 마지막에 543에서 562 나노미터 대역만 보니 4개 lot 전부에서 재현됐습니다.</a:t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트랙은 딥러닝이 후반 사이클을 더 많이 본다는 걸 찾았고, B 트랙은 그 후반부에서 실제로 무슨 일이 일어나는지를 RF와 OES로 짚었습니다. 서로 다른 방법이 같은 결론에 도달했습니다.</a:t>
            </a:r>
            <a:endParaRPr/>
          </a:p>
        </p:txBody>
      </p:sp>
      <p:sp>
        <p:nvSpPr>
          <p:cNvPr id="220" name="Google Shape;2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BOSCH DRIE는 SF6 식각과 C4F8 패시베이션이 반복되는 사이클 공정입니다. 같은 구조를 갖는 ALD, PEALD, ALE로 확장할 수 있습니다.</a:t>
            </a:r>
            <a:endParaRPr/>
          </a:p>
        </p:txBody>
      </p:sp>
      <p:sp>
        <p:nvSpPr>
          <p:cNvPr id="236" name="Google Shape;2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주장 가능한 범위를 명확히 구분했습니다. 특히 미검출 0건은 0퍼센트가 아닙니다. 67건 중 0건이고 95% 상한은 5.4%입니다.</a:t>
            </a:r>
            <a:endParaRPr/>
          </a:p>
        </p:txBody>
      </p:sp>
      <p:sp>
        <p:nvSpPr>
          <p:cNvPr id="242" name="Google Shape;2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감사합니다.</a:t>
            </a:r>
            <a:endParaRPr/>
          </a:p>
        </p:txBody>
      </p:sp>
      <p:sp>
        <p:nvSpPr>
          <p:cNvPr id="263" name="Google Shape;26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14400" y="187452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플라즈마 식각 가상계측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2D9"/>
              </a:buClr>
              <a:buSzPts val="2600"/>
              <a:buFont typeface="Cambria"/>
              <a:buNone/>
            </a:pPr>
            <a:r>
              <a:rPr b="0" i="0" lang="en-US" sz="2600" u="none" cap="none" strike="noStrike">
                <a:solidFill>
                  <a:srgbClr val="9DB2D9"/>
                </a:solidFill>
                <a:latin typeface="Cambria"/>
                <a:ea typeface="Cambria"/>
                <a:cs typeface="Cambria"/>
                <a:sym typeface="Cambria"/>
              </a:rPr>
              <a:t>드리프트 인과 규명부터 임베디드 실장까지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60120" y="3611880"/>
            <a:ext cx="1371600" cy="32004"/>
          </a:xfrm>
          <a:prstGeom prst="rect">
            <a:avLst/>
          </a:prstGeom>
          <a:solidFill>
            <a:srgbClr val="2B6CB0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400" y="39776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B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E93BC"/>
                </a:solidFill>
                <a:latin typeface="Calibri"/>
                <a:ea typeface="Calibri"/>
                <a:cs typeface="Calibri"/>
                <a:sym typeface="Calibri"/>
              </a:rPr>
              <a:t>BOSCH Plasma Etch Multi-Model Dataset  ·  Zenodo 10.5281/zenodo.17122442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실계측은 느리고 비싸다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vm_concept.jp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417320"/>
            <a:ext cx="7498080" cy="42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8915400" y="16916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9052560" y="1874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전수 검사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052560" y="228600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표본이 아닌 전량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915400" y="3291840"/>
            <a:ext cx="2651760" cy="1417320"/>
          </a:xfrm>
          <a:prstGeom prst="roundRect">
            <a:avLst>
              <a:gd fmla="val 516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052560" y="3474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실시간 제어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052560" y="388620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이상을 즉시 발견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dataset.jpg" id="38" name="Google Shape;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10장을 연속 처리하면 얕아진다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1_drift.png" id="45" name="Google Shape;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481328"/>
            <a:ext cx="8503920" cy="309067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9555480" y="169164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10/10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555480" y="24688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전 lot 감소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555480" y="29718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−0.119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555480" y="3749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µm / wafer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555480" y="42519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4.5e−19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555480" y="5029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22960" y="48006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클리닝 없이 10장 연속 → 44.6 µm에서 1.2 µm 감소 (−2.7%)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원인은 RF 정합 특성 변화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58368" y="1005840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플라즈마 ON 구간 한정, lot 내 정규화 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" name="Google Shape;60;p5"/>
          <p:cNvGraphicFramePr/>
          <p:nvPr/>
        </p:nvGraphicFramePr>
        <p:xfrm>
          <a:off x="82296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{EFAC1035-9658-4C3C-93D4-66B3071C4914}</a:tableStyleId>
              </a:tblPr>
              <a:tblGrid>
                <a:gridCol w="2743200"/>
                <a:gridCol w="1371600"/>
                <a:gridCol w="1280150"/>
                <a:gridCol w="118872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신호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w1→w10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ρ (깊이)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RF 반사파워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+0.909 ↑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−0.577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4.0e−9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RF pk-to-pk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−6.035 ↓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+0.716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4.4e−15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Platen RF 튜닝 커패시터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+0.301 ↑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−0.857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E3D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F1E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1.6e−26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Google Shape;61;p5"/>
          <p:cNvSpPr/>
          <p:nvPr/>
        </p:nvSpPr>
        <p:spPr>
          <a:xfrm>
            <a:off x="7818120" y="1600200"/>
            <a:ext cx="3703320" cy="2377440"/>
          </a:xfrm>
          <a:prstGeom prst="roundRect">
            <a:avLst>
              <a:gd fmla="val 3077" name="adj"/>
            </a:avLst>
          </a:prstGeom>
          <a:solidFill>
            <a:srgbClr val="FDF2F2"/>
          </a:solidFill>
          <a:ln cap="flat" cmpd="sng" w="12700">
            <a:solidFill>
              <a:srgbClr val="F5C6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046720" y="178308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음성 대조군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046720" y="22860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챔버 압력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046720" y="25603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sd = 0.0000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046720" y="3127248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88장 전체에서 단 한 번도 움직이지 않았다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22960" y="4343400"/>
            <a:ext cx="10698480" cy="960120"/>
          </a:xfrm>
          <a:prstGeom prst="roundRect">
            <a:avLst>
              <a:gd fmla="val 7619" name="adj"/>
            </a:avLst>
          </a:prstGeom>
          <a:solidFill>
            <a:srgbClr val="0F1E3D"/>
          </a:solidFill>
          <a:ln cap="flat" cmpd="sng" w="12700">
            <a:solidFill>
              <a:srgbClr val="0F1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097280" y="4526280"/>
            <a:ext cx="10149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레시피 설정은 완전히 고정된 상태에서  RF 정합 특성만 악화된다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같은 데이터, 두 갈래 질문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822960" y="1600200"/>
            <a:ext cx="5120640" cy="3931920"/>
          </a:xfrm>
          <a:prstGeom prst="roundRect">
            <a:avLst>
              <a:gd fmla="val 1860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09728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691640" y="18745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얼마나 정확한가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234440" y="2606040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89 지점 공간 분포 예측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OES 전 채널 + 딥러닝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si_etch · oxide_etch 동시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234440" y="48006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최대 정확도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309360" y="1600200"/>
            <a:ext cx="5120640" cy="3931920"/>
          </a:xfrm>
          <a:prstGeom prst="roundRect">
            <a:avLst>
              <a:gd fmla="val 1860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178040" y="18745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얼마나 빨리, 어디까지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720840" y="2606040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웨이퍼 평균 깊이 + 불확실성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센서 3개, 4.8초 시점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임베디드 보드 실장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720840" y="480060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최소 지연 · 실현 가능성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dl_pipeline.jpg"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분산의 99%는 웨이퍼 안에 있다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eda_si.jpg"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6949440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7955280" y="1691640"/>
            <a:ext cx="3566160" cy="3200400"/>
          </a:xfrm>
          <a:prstGeom prst="roundRect">
            <a:avLst>
              <a:gd fmla="val 2286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8183880" y="187452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웨이퍼 내 산포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183880" y="21488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3.61 µm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183880" y="260604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99%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183880" y="320040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웨이퍼 간 산포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8183880" y="34747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0.40 µm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183880" y="39319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53030"/>
                </a:solidFill>
                <a:latin typeface="Calibri"/>
                <a:ea typeface="Calibri"/>
                <a:cs typeface="Calibri"/>
                <a:sym typeface="Calibri"/>
              </a:rPr>
              <a:t>1%  ← 드리프트는 여기 있다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822960" y="544068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공간 패턴은 거의 정적이다. 우리가 쫓는 드리프트는 남은 1%의 성분이다.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출처: 종합설계프로젝트 6조 발표자료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표본 88개에 신경망은 불가능하다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658368" y="1005840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특징셋 × 13 모델 = 65 조합, Leave-One-Lot-Out 전수 측정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822960" y="1783080"/>
            <a:ext cx="6675120" cy="658368"/>
          </a:xfrm>
          <a:prstGeom prst="roundRect">
            <a:avLst>
              <a:gd fmla="val 1111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1051560" y="1783080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LassoCV  (28특징)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577840" y="178308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0.9325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822960" y="2587752"/>
            <a:ext cx="6675120" cy="658368"/>
          </a:xfrm>
          <a:prstGeom prst="roundRect">
            <a:avLst>
              <a:gd fmla="val 1111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1051560" y="2587752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GPR-Matern  (4특징)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577840" y="2587752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0.8775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22960" y="3392424"/>
            <a:ext cx="6675120" cy="658368"/>
          </a:xfrm>
          <a:prstGeom prst="roundRect">
            <a:avLst>
              <a:gd fmla="val 1111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1051560" y="3392424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Ridge  (4특징)  ← 배포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577840" y="3392424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0.8554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822960" y="4197096"/>
            <a:ext cx="6675120" cy="658368"/>
          </a:xfrm>
          <a:prstGeom prst="roundRect">
            <a:avLst>
              <a:gd fmla="val 1111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1051560" y="4197096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웨이퍼 순서만  (1특징)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577840" y="4197096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6B7280"/>
                </a:solidFill>
                <a:latin typeface="Cambria"/>
                <a:ea typeface="Cambria"/>
                <a:cs typeface="Cambria"/>
                <a:sym typeface="Cambria"/>
              </a:rPr>
              <a:t>0.7019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822960" y="5001768"/>
            <a:ext cx="6675120" cy="658368"/>
          </a:xfrm>
          <a:prstGeom prst="roundRect">
            <a:avLst>
              <a:gd fmla="val 1111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1051560" y="5001768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MLP (32,16)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577840" y="500176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−357,124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577840" y="1417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dl_fail.jpg"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2148840"/>
            <a:ext cx="3794760" cy="21305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/>
          <p:nvPr/>
        </p:nvSpPr>
        <p:spPr>
          <a:xfrm>
            <a:off x="7772400" y="434340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트랙도 초기 DL은 Si에서 실패했다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우측: 종합설계프로젝트 6조 발표자료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정확도가 아니라 확신이 결정한다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2_verdict.png"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417320"/>
            <a:ext cx="6035040" cy="38953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7406640" y="1691640"/>
            <a:ext cx="4114800" cy="1600200"/>
          </a:xfrm>
          <a:prstGeom prst="roundRect">
            <a:avLst>
              <a:gd fmla="val 457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7635240" y="18470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 = 0  (점추정)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635240" y="21945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미검출 4건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7635240" y="2743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규격 이탈을 그냥 통과시킴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7406640" y="3520440"/>
            <a:ext cx="4114800" cy="1828800"/>
          </a:xfrm>
          <a:prstGeom prst="roundRect">
            <a:avLst>
              <a:gd fmla="val 4000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7635240" y="36758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 = 1.0  (신뢰구간)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7635240" y="402336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생략 76.1% / 미검출 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7635240" y="45720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95% 신뢰상한 5.4%  ·  OK 최소깊이 43.585 &gt; LSL 43.554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4.8초 만에 판정한다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658368" y="1005840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Cortex-A65AE · C 553줄 · System V IPC 다중 챔버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822960" y="1645920"/>
            <a:ext cx="10698480" cy="1325880"/>
          </a:xfrm>
          <a:prstGeom prst="roundRect">
            <a:avLst>
              <a:gd fmla="val 5517" name="adj"/>
            </a:avLst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1143000" y="178308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S_IDLE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143000" y="217627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점화 대기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&gt; 2000 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25196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4754880" y="178308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S_ACC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754880" y="217627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RF 3신호 누적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SF₆ 엣지 카운트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78638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366760" y="178308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S_DONE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8366760" y="217627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예측 + 불확실성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판정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1051560" y="34290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051560" y="4206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누적 샘플 (중앙값)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3703320" y="34290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4.8s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3703320" y="4206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판정까지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6355080" y="34290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510ns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355080" y="4206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추론 1회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9006840" y="342900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1e−5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9006840" y="4206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PC 대비 오차 µm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822960" y="5029200"/>
            <a:ext cx="10698480" cy="868680"/>
          </a:xfrm>
          <a:prstGeom prst="roundRect">
            <a:avLst>
              <a:gd fmla="val 8421" name="adj"/>
            </a:avLst>
          </a:prstGeom>
          <a:solidFill>
            <a:srgbClr val="0F1E3D"/>
          </a:solidFill>
          <a:ln cap="flat" cmpd="sng" w="12700">
            <a:solidFill>
              <a:srgbClr val="0F1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1097280" y="5166360"/>
            <a:ext cx="10149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600초 공정에서 4.8초 시점에 판정이 선다  ·  88/88 웨이퍼 PC와 완전 일치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병목은 연산이 아니었다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3_board.png"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17320"/>
            <a:ext cx="7635240" cy="277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2"/>
          <p:cNvSpPr/>
          <p:nvPr/>
        </p:nvSpPr>
        <p:spPr>
          <a:xfrm>
            <a:off x="8641080" y="1554480"/>
            <a:ext cx="2880360" cy="1234440"/>
          </a:xfrm>
          <a:prstGeom prst="roundRect">
            <a:avLst>
              <a:gd fmla="val 5926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8823960" y="1691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물리 코어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8823960" y="19659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8 → 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8823960" y="24505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nproc은 8, 실효 병렬은 3.8배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8641080" y="2971800"/>
            <a:ext cx="2880360" cy="1234440"/>
          </a:xfrm>
          <a:prstGeom prst="roundRect">
            <a:avLst>
              <a:gd fmla="val 5926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8823960" y="31089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NFS I/O 비중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8823960" y="3383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99.7%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8823960" y="38679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로컬로 옮기면 50배 단축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685800" y="4526280"/>
            <a:ext cx="10835640" cy="1371600"/>
          </a:xfrm>
          <a:prstGeom prst="roundRect">
            <a:avLst>
              <a:gd fmla="val 5333" name="adj"/>
            </a:avLst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960120" y="4681728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3.5억 샘플 처리 후 온도 상승  +1.37 °C     (동일 보드 NPU 부하 : +27.9 °C)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960120" y="5230368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이 워크로드에 전용 가속기는 불필요하다. 실시간 마감 대비 여유율 190만 배 — 측정으로 얻은 정직한 결론.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가설을 세 번 기각하고 도달했다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658368" y="1005840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OES 3,648 채널 · 4개 lot 검증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822960" y="1783080"/>
            <a:ext cx="5943600" cy="868680"/>
          </a:xfrm>
          <a:prstGeom prst="roundRect">
            <a:avLst>
              <a:gd fmla="val 842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1005840" y="1856232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가설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2057400" y="1837944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CF₂/F 원자선 강도비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2057400" y="222199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CF₂ 무신호, F는 1824채널 중 126위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22960" y="2807208"/>
            <a:ext cx="5943600" cy="868680"/>
          </a:xfrm>
          <a:prstGeom prst="roundRect">
            <a:avLst>
              <a:gd fmla="val 842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1005840" y="2880360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가설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2057400" y="286207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전 스펙트럼 균일 감쇠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2057400" y="324612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lot 6에서 미검출 (p=0.187)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822960" y="3831336"/>
            <a:ext cx="5943600" cy="868680"/>
          </a:xfrm>
          <a:prstGeom prst="roundRect">
            <a:avLst>
              <a:gd fmla="val 842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1005840" y="3904488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가설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2057400" y="388620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관측창 오염 아티팩트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2057400" y="427024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파장 의존성이 예측과 반대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822960" y="4855464"/>
            <a:ext cx="5943600" cy="868680"/>
          </a:xfrm>
          <a:prstGeom prst="roundRect">
            <a:avLst>
              <a:gd fmla="val 8421" name="adj"/>
            </a:avLst>
          </a:prstGeom>
          <a:solidFill>
            <a:srgbClr val="EBF3FC"/>
          </a:solidFill>
          <a:ln cap="flat" cmpd="sng" w="12700">
            <a:solidFill>
              <a:srgbClr val="B9D4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1005840" y="4928616"/>
            <a:ext cx="1051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결론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2057400" y="491032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543–562 nm 대역 감소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2057400" y="529437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4개 lot 전부 재현 (p&lt;0.02)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4_oes.png"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1965960"/>
            <a:ext cx="452628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cycle_attr.jpg" id="215" name="Google Shape;2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3794760"/>
            <a:ext cx="4526280" cy="187452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3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우하단: 종합설계프로젝트 6조 발표자료 (cycle attribution)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두 결과는 같은 곳을 가리킨다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822960" y="1645920"/>
            <a:ext cx="5029200" cy="1920240"/>
          </a:xfrm>
          <a:prstGeom prst="roundRect">
            <a:avLst>
              <a:gd fmla="val 3810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1051560" y="18288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B6CB0"/>
                </a:solidFill>
                <a:latin typeface="Cambria"/>
                <a:ea typeface="Cambria"/>
                <a:cs typeface="Cambria"/>
                <a:sym typeface="Cambria"/>
              </a:rPr>
              <a:t>A · 사이클 기여도 분석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051560" y="2286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후반 사이클일수록 예측 기여도가 커진다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→ 챔버 상태 변화가 후반부에 누적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6492240" y="1645920"/>
            <a:ext cx="5029200" cy="1920240"/>
          </a:xfrm>
          <a:prstGeom prst="roundRect">
            <a:avLst>
              <a:gd fmla="val 3810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6720840" y="18288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53030"/>
                </a:solidFill>
                <a:latin typeface="Cambria"/>
                <a:ea typeface="Cambria"/>
                <a:cs typeface="Cambria"/>
                <a:sym typeface="Cambria"/>
              </a:rPr>
              <a:t>B · OES 대역 + RF 신호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720840" y="228600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543–562 nm 발광 감소가 RF 반사파워 증가와 동기화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F1E3D"/>
                </a:solidFill>
                <a:latin typeface="Calibri"/>
                <a:ea typeface="Calibri"/>
                <a:cs typeface="Calibri"/>
                <a:sym typeface="Calibri"/>
              </a:rPr>
              <a:t>→ 플라즈마 결합 효율 저하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822960" y="3931920"/>
            <a:ext cx="10698480" cy="1325880"/>
          </a:xfrm>
          <a:prstGeom prst="roundRect">
            <a:avLst>
              <a:gd fmla="val 5517" name="adj"/>
            </a:avLst>
          </a:prstGeom>
          <a:solidFill>
            <a:srgbClr val="0F1E3D"/>
          </a:solidFill>
          <a:ln cap="flat" cmpd="sng" w="12700">
            <a:solidFill>
              <a:srgbClr val="0F1E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1097280" y="411480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챔버 벽 폴리머 누적 → 임피던스 변화 → 실효 결합파워 저하 → 식각률 감소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1097280" y="461772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2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2D9"/>
                </a:solidFill>
                <a:latin typeface="Calibri"/>
                <a:ea typeface="Calibri"/>
                <a:cs typeface="Calibri"/>
                <a:sym typeface="Calibri"/>
              </a:rPr>
              <a:t>전기적 증거(RF) · 광학적 증거(OES) · 학습된 시간 구조(사이클 기여도) 가 같은 인과를 지목한다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좌측 근거: 종합설계프로젝트 6조 발표자료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impact.jpg" id="238" name="Google Shape;2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640080" y="347472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말할 수 있는 것과 없는 것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822960" y="1691640"/>
            <a:ext cx="10698480" cy="804672"/>
          </a:xfrm>
          <a:prstGeom prst="roundRect">
            <a:avLst>
              <a:gd fmla="val 909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1097280" y="1691640"/>
            <a:ext cx="30175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독립 표본 88개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4206240" y="1691640"/>
            <a:ext cx="7132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웨이퍼 단위 판정은 가능하나 lot 단위 주장은 검정력 부족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822960" y="2606040"/>
            <a:ext cx="10698480" cy="804672"/>
          </a:xfrm>
          <a:prstGeom prst="roundRect">
            <a:avLst>
              <a:gd fmla="val 909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1097280" y="2606040"/>
            <a:ext cx="30175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미검출 0/67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4206240" y="2606040"/>
            <a:ext cx="7132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"0%"가 아니다. 95% 신뢰상한 5.4%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822960" y="3520440"/>
            <a:ext cx="10698480" cy="804672"/>
          </a:xfrm>
          <a:prstGeom prst="roundRect">
            <a:avLst>
              <a:gd fmla="val 909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097280" y="3520440"/>
            <a:ext cx="30175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컨디셔닝 효과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206240" y="3520440"/>
            <a:ext cx="7132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 불균형으로 결론 내리지 않음 — 원저자도 inconclusive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822960" y="4434840"/>
            <a:ext cx="10698480" cy="804672"/>
          </a:xfrm>
          <a:prstGeom prst="roundRect">
            <a:avLst>
              <a:gd fmla="val 909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1097280" y="4434840"/>
            <a:ext cx="30175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543–562 nm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206240" y="4434840"/>
            <a:ext cx="7132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화학종 미동정. 대역 경계는 데이터에서 사후 결정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822960" y="5349240"/>
            <a:ext cx="10698480" cy="804672"/>
          </a:xfrm>
          <a:prstGeom prst="roundRect">
            <a:avLst>
              <a:gd fmla="val 9091" name="adj"/>
            </a:avLst>
          </a:prstGeom>
          <a:solidFill>
            <a:srgbClr val="F4F6F9"/>
          </a:solidFill>
          <a:ln cap="flat" cmpd="sng" w="12700">
            <a:solidFill>
              <a:srgbClr val="F4F6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1097280" y="5349240"/>
            <a:ext cx="30175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E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E3D"/>
                </a:solidFill>
                <a:latin typeface="Cambria"/>
                <a:ea typeface="Cambria"/>
                <a:cs typeface="Cambria"/>
                <a:sym typeface="Cambria"/>
              </a:rPr>
              <a:t>OES 재현 범위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206240" y="5349240"/>
            <a:ext cx="71323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10개 lot 중 4개(40 웨이퍼)만 검증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D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/>
          <p:nvPr/>
        </p:nvSpPr>
        <p:spPr>
          <a:xfrm>
            <a:off x="914400" y="105156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정리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96012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C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A7FC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1691640" y="210312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드리프트를 인과까지 규명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709928" y="2578608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2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2D9"/>
                </a:solidFill>
                <a:latin typeface="Calibri"/>
                <a:ea typeface="Calibri"/>
                <a:cs typeface="Calibri"/>
                <a:sym typeface="Calibri"/>
              </a:rPr>
              <a:t>10/10 lot · 음성 대조군 · OES 4 lot 재현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960120" y="3337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C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A7FC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691640" y="333756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4.8초 만에 판정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709928" y="3813048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2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2D9"/>
                </a:solidFill>
                <a:latin typeface="Calibri"/>
                <a:ea typeface="Calibri"/>
                <a:cs typeface="Calibri"/>
                <a:sym typeface="Calibri"/>
              </a:rPr>
              <a:t>실계측 76.1% 생략, 규격이탈 미검출 0/67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960120" y="4572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FC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A7FC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691640" y="457200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임베디드 실장 및 한계 측정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709928" y="5047488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2D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2D9"/>
                </a:solidFill>
                <a:latin typeface="Calibri"/>
                <a:ea typeface="Calibri"/>
                <a:cs typeface="Calibri"/>
                <a:sym typeface="Calibri"/>
              </a:rPr>
              <a:t>PC 대비 오차 1e−5 µm · 병목은 I/O와 물리 코어 4개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2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82A8"/>
                </a:solidFill>
                <a:latin typeface="Calibri"/>
                <a:ea typeface="Calibri"/>
                <a:cs typeface="Calibri"/>
                <a:sym typeface="Calibri"/>
              </a:rPr>
              <a:t>BOSCH Plasma Etch Multi-Model Dataset  ·  CC BY 4.0  ·  Zenodo 10.5281/zenodo.17122442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2026-08-03T07:59:00Z</dcterms:created>
  <dc:creator>PptxGenJS</dc:creator>
</cp:coreProperties>
</file>